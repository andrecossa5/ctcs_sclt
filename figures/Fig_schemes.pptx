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8"/>
  </p:notesMasterIdLst>
  <p:sldIdLst>
    <p:sldId id="261" r:id="rId2"/>
    <p:sldId id="266" r:id="rId3"/>
    <p:sldId id="262" r:id="rId4"/>
    <p:sldId id="263" r:id="rId5"/>
    <p:sldId id="264" r:id="rId6"/>
    <p:sldId id="265" r:id="rId7"/>
  </p:sldIdLst>
  <p:sldSz cx="7704138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44"/>
    <p:restoredTop sz="89879"/>
  </p:normalViewPr>
  <p:slideViewPr>
    <p:cSldViewPr snapToGrid="0">
      <p:cViewPr>
        <p:scale>
          <a:sx n="129" d="100"/>
          <a:sy n="129" d="100"/>
        </p:scale>
        <p:origin x="9896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EF79E-C61B-404F-A3B8-604CC383907F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17750" y="1143000"/>
            <a:ext cx="2222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B59EF-A12B-244D-BC5D-D7E00D579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17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7811" y="1749795"/>
            <a:ext cx="6548517" cy="3722335"/>
          </a:xfrm>
        </p:spPr>
        <p:txBody>
          <a:bodyPr anchor="b"/>
          <a:lstStyle>
            <a:lvl1pPr algn="ctr">
              <a:defRPr sz="505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017" y="5615678"/>
            <a:ext cx="5778104" cy="2581379"/>
          </a:xfrm>
        </p:spPr>
        <p:txBody>
          <a:bodyPr/>
          <a:lstStyle>
            <a:lvl1pPr marL="0" indent="0" algn="ctr">
              <a:buNone/>
              <a:defRPr sz="2022"/>
            </a:lvl1pPr>
            <a:lvl2pPr marL="385191" indent="0" algn="ctr">
              <a:buNone/>
              <a:defRPr sz="1685"/>
            </a:lvl2pPr>
            <a:lvl3pPr marL="770382" indent="0" algn="ctr">
              <a:buNone/>
              <a:defRPr sz="1517"/>
            </a:lvl3pPr>
            <a:lvl4pPr marL="1155573" indent="0" algn="ctr">
              <a:buNone/>
              <a:defRPr sz="1348"/>
            </a:lvl4pPr>
            <a:lvl5pPr marL="1540764" indent="0" algn="ctr">
              <a:buNone/>
              <a:defRPr sz="1348"/>
            </a:lvl5pPr>
            <a:lvl6pPr marL="1925955" indent="0" algn="ctr">
              <a:buNone/>
              <a:defRPr sz="1348"/>
            </a:lvl6pPr>
            <a:lvl7pPr marL="2311146" indent="0" algn="ctr">
              <a:buNone/>
              <a:defRPr sz="1348"/>
            </a:lvl7pPr>
            <a:lvl8pPr marL="2696337" indent="0" algn="ctr">
              <a:buNone/>
              <a:defRPr sz="1348"/>
            </a:lvl8pPr>
            <a:lvl9pPr marL="3081528" indent="0" algn="ctr">
              <a:buNone/>
              <a:defRPr sz="134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7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6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647" y="2665532"/>
            <a:ext cx="6644819" cy="4447496"/>
          </a:xfrm>
        </p:spPr>
        <p:txBody>
          <a:bodyPr anchor="b"/>
          <a:lstStyle>
            <a:lvl1pPr>
              <a:defRPr sz="505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5647" y="7155103"/>
            <a:ext cx="6644819" cy="2338833"/>
          </a:xfrm>
        </p:spPr>
        <p:txBody>
          <a:bodyPr/>
          <a:lstStyle>
            <a:lvl1pPr marL="0" indent="0">
              <a:buNone/>
              <a:defRPr sz="2022">
                <a:solidFill>
                  <a:schemeClr val="tx1">
                    <a:tint val="82000"/>
                  </a:schemeClr>
                </a:solidFill>
              </a:defRPr>
            </a:lvl1pPr>
            <a:lvl2pPr marL="385191" indent="0">
              <a:buNone/>
              <a:defRPr sz="1685">
                <a:solidFill>
                  <a:schemeClr val="tx1">
                    <a:tint val="82000"/>
                  </a:schemeClr>
                </a:solidFill>
              </a:defRPr>
            </a:lvl2pPr>
            <a:lvl3pPr marL="770382" indent="0">
              <a:buNone/>
              <a:defRPr sz="1517">
                <a:solidFill>
                  <a:schemeClr val="tx1">
                    <a:tint val="82000"/>
                  </a:schemeClr>
                </a:solidFill>
              </a:defRPr>
            </a:lvl3pPr>
            <a:lvl4pPr marL="1155573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4pPr>
            <a:lvl5pPr marL="1540764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5pPr>
            <a:lvl6pPr marL="1925955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6pPr>
            <a:lvl7pPr marL="2311146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7pPr>
            <a:lvl8pPr marL="2696337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8pPr>
            <a:lvl9pPr marL="3081528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26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9659" y="2846200"/>
            <a:ext cx="3274259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0220" y="2846200"/>
            <a:ext cx="3274259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16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63" y="569242"/>
            <a:ext cx="6644819" cy="20665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664" y="2620980"/>
            <a:ext cx="3259211" cy="1284502"/>
          </a:xfrm>
        </p:spPr>
        <p:txBody>
          <a:bodyPr anchor="b"/>
          <a:lstStyle>
            <a:lvl1pPr marL="0" indent="0">
              <a:buNone/>
              <a:defRPr sz="2022" b="1"/>
            </a:lvl1pPr>
            <a:lvl2pPr marL="385191" indent="0">
              <a:buNone/>
              <a:defRPr sz="1685" b="1"/>
            </a:lvl2pPr>
            <a:lvl3pPr marL="770382" indent="0">
              <a:buNone/>
              <a:defRPr sz="1517" b="1"/>
            </a:lvl3pPr>
            <a:lvl4pPr marL="1155573" indent="0">
              <a:buNone/>
              <a:defRPr sz="1348" b="1"/>
            </a:lvl4pPr>
            <a:lvl5pPr marL="1540764" indent="0">
              <a:buNone/>
              <a:defRPr sz="1348" b="1"/>
            </a:lvl5pPr>
            <a:lvl6pPr marL="1925955" indent="0">
              <a:buNone/>
              <a:defRPr sz="1348" b="1"/>
            </a:lvl6pPr>
            <a:lvl7pPr marL="2311146" indent="0">
              <a:buNone/>
              <a:defRPr sz="1348" b="1"/>
            </a:lvl7pPr>
            <a:lvl8pPr marL="2696337" indent="0">
              <a:buNone/>
              <a:defRPr sz="1348" b="1"/>
            </a:lvl8pPr>
            <a:lvl9pPr marL="3081528" indent="0">
              <a:buNone/>
              <a:defRPr sz="134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0664" y="3905482"/>
            <a:ext cx="3259211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00220" y="2620980"/>
            <a:ext cx="3275262" cy="1284502"/>
          </a:xfrm>
        </p:spPr>
        <p:txBody>
          <a:bodyPr anchor="b"/>
          <a:lstStyle>
            <a:lvl1pPr marL="0" indent="0">
              <a:buNone/>
              <a:defRPr sz="2022" b="1"/>
            </a:lvl1pPr>
            <a:lvl2pPr marL="385191" indent="0">
              <a:buNone/>
              <a:defRPr sz="1685" b="1"/>
            </a:lvl2pPr>
            <a:lvl3pPr marL="770382" indent="0">
              <a:buNone/>
              <a:defRPr sz="1517" b="1"/>
            </a:lvl3pPr>
            <a:lvl4pPr marL="1155573" indent="0">
              <a:buNone/>
              <a:defRPr sz="1348" b="1"/>
            </a:lvl4pPr>
            <a:lvl5pPr marL="1540764" indent="0">
              <a:buNone/>
              <a:defRPr sz="1348" b="1"/>
            </a:lvl5pPr>
            <a:lvl6pPr marL="1925955" indent="0">
              <a:buNone/>
              <a:defRPr sz="1348" b="1"/>
            </a:lvl6pPr>
            <a:lvl7pPr marL="2311146" indent="0">
              <a:buNone/>
              <a:defRPr sz="1348" b="1"/>
            </a:lvl7pPr>
            <a:lvl8pPr marL="2696337" indent="0">
              <a:buNone/>
              <a:defRPr sz="1348" b="1"/>
            </a:lvl8pPr>
            <a:lvl9pPr marL="3081528" indent="0">
              <a:buNone/>
              <a:defRPr sz="134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00220" y="3905482"/>
            <a:ext cx="3275262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01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4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8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63" y="712788"/>
            <a:ext cx="2484785" cy="2494756"/>
          </a:xfrm>
        </p:spPr>
        <p:txBody>
          <a:bodyPr anchor="b"/>
          <a:lstStyle>
            <a:lvl1pPr>
              <a:defRPr sz="26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5262" y="1539425"/>
            <a:ext cx="3900220" cy="7598117"/>
          </a:xfrm>
        </p:spPr>
        <p:txBody>
          <a:bodyPr/>
          <a:lstStyle>
            <a:lvl1pPr>
              <a:defRPr sz="2696"/>
            </a:lvl1pPr>
            <a:lvl2pPr>
              <a:defRPr sz="2359"/>
            </a:lvl2pPr>
            <a:lvl3pPr>
              <a:defRPr sz="2022"/>
            </a:lvl3pPr>
            <a:lvl4pPr>
              <a:defRPr sz="1685"/>
            </a:lvl4pPr>
            <a:lvl5pPr>
              <a:defRPr sz="1685"/>
            </a:lvl5pPr>
            <a:lvl6pPr>
              <a:defRPr sz="1685"/>
            </a:lvl6pPr>
            <a:lvl7pPr>
              <a:defRPr sz="1685"/>
            </a:lvl7pPr>
            <a:lvl8pPr>
              <a:defRPr sz="1685"/>
            </a:lvl8pPr>
            <a:lvl9pPr>
              <a:defRPr sz="168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663" y="3207544"/>
            <a:ext cx="2484785" cy="5942372"/>
          </a:xfrm>
        </p:spPr>
        <p:txBody>
          <a:bodyPr/>
          <a:lstStyle>
            <a:lvl1pPr marL="0" indent="0">
              <a:buNone/>
              <a:defRPr sz="1348"/>
            </a:lvl1pPr>
            <a:lvl2pPr marL="385191" indent="0">
              <a:buNone/>
              <a:defRPr sz="1180"/>
            </a:lvl2pPr>
            <a:lvl3pPr marL="770382" indent="0">
              <a:buNone/>
              <a:defRPr sz="1011"/>
            </a:lvl3pPr>
            <a:lvl4pPr marL="1155573" indent="0">
              <a:buNone/>
              <a:defRPr sz="843"/>
            </a:lvl4pPr>
            <a:lvl5pPr marL="1540764" indent="0">
              <a:buNone/>
              <a:defRPr sz="843"/>
            </a:lvl5pPr>
            <a:lvl6pPr marL="1925955" indent="0">
              <a:buNone/>
              <a:defRPr sz="843"/>
            </a:lvl6pPr>
            <a:lvl7pPr marL="2311146" indent="0">
              <a:buNone/>
              <a:defRPr sz="843"/>
            </a:lvl7pPr>
            <a:lvl8pPr marL="2696337" indent="0">
              <a:buNone/>
              <a:defRPr sz="843"/>
            </a:lvl8pPr>
            <a:lvl9pPr marL="3081528" indent="0">
              <a:buNone/>
              <a:defRPr sz="84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11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63" y="712788"/>
            <a:ext cx="2484785" cy="2494756"/>
          </a:xfrm>
        </p:spPr>
        <p:txBody>
          <a:bodyPr anchor="b"/>
          <a:lstStyle>
            <a:lvl1pPr>
              <a:defRPr sz="26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75262" y="1539425"/>
            <a:ext cx="3900220" cy="7598117"/>
          </a:xfrm>
        </p:spPr>
        <p:txBody>
          <a:bodyPr anchor="t"/>
          <a:lstStyle>
            <a:lvl1pPr marL="0" indent="0">
              <a:buNone/>
              <a:defRPr sz="2696"/>
            </a:lvl1pPr>
            <a:lvl2pPr marL="385191" indent="0">
              <a:buNone/>
              <a:defRPr sz="2359"/>
            </a:lvl2pPr>
            <a:lvl3pPr marL="770382" indent="0">
              <a:buNone/>
              <a:defRPr sz="2022"/>
            </a:lvl3pPr>
            <a:lvl4pPr marL="1155573" indent="0">
              <a:buNone/>
              <a:defRPr sz="1685"/>
            </a:lvl4pPr>
            <a:lvl5pPr marL="1540764" indent="0">
              <a:buNone/>
              <a:defRPr sz="1685"/>
            </a:lvl5pPr>
            <a:lvl6pPr marL="1925955" indent="0">
              <a:buNone/>
              <a:defRPr sz="1685"/>
            </a:lvl6pPr>
            <a:lvl7pPr marL="2311146" indent="0">
              <a:buNone/>
              <a:defRPr sz="1685"/>
            </a:lvl7pPr>
            <a:lvl8pPr marL="2696337" indent="0">
              <a:buNone/>
              <a:defRPr sz="1685"/>
            </a:lvl8pPr>
            <a:lvl9pPr marL="3081528" indent="0">
              <a:buNone/>
              <a:defRPr sz="168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663" y="3207544"/>
            <a:ext cx="2484785" cy="5942372"/>
          </a:xfrm>
        </p:spPr>
        <p:txBody>
          <a:bodyPr/>
          <a:lstStyle>
            <a:lvl1pPr marL="0" indent="0">
              <a:buNone/>
              <a:defRPr sz="1348"/>
            </a:lvl1pPr>
            <a:lvl2pPr marL="385191" indent="0">
              <a:buNone/>
              <a:defRPr sz="1180"/>
            </a:lvl2pPr>
            <a:lvl3pPr marL="770382" indent="0">
              <a:buNone/>
              <a:defRPr sz="1011"/>
            </a:lvl3pPr>
            <a:lvl4pPr marL="1155573" indent="0">
              <a:buNone/>
              <a:defRPr sz="843"/>
            </a:lvl4pPr>
            <a:lvl5pPr marL="1540764" indent="0">
              <a:buNone/>
              <a:defRPr sz="843"/>
            </a:lvl5pPr>
            <a:lvl6pPr marL="1925955" indent="0">
              <a:buNone/>
              <a:defRPr sz="843"/>
            </a:lvl6pPr>
            <a:lvl7pPr marL="2311146" indent="0">
              <a:buNone/>
              <a:defRPr sz="843"/>
            </a:lvl7pPr>
            <a:lvl8pPr marL="2696337" indent="0">
              <a:buNone/>
              <a:defRPr sz="843"/>
            </a:lvl8pPr>
            <a:lvl9pPr marL="3081528" indent="0">
              <a:buNone/>
              <a:defRPr sz="84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5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58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13274" y="569240"/>
            <a:ext cx="1661205" cy="90608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9660" y="569240"/>
            <a:ext cx="4887313" cy="9060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9660" y="569242"/>
            <a:ext cx="664481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9660" y="2846200"/>
            <a:ext cx="664481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9660" y="9909729"/>
            <a:ext cx="173343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A5A11-6E93-104C-9945-833B37EB7E5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51996" y="9909729"/>
            <a:ext cx="260014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41047" y="9909729"/>
            <a:ext cx="173343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30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70382" rtl="0" eaLnBrk="1" latinLnBrk="0" hangingPunct="1">
        <a:lnSpc>
          <a:spcPct val="90000"/>
        </a:lnSpc>
        <a:spcBef>
          <a:spcPct val="0"/>
        </a:spcBef>
        <a:buNone/>
        <a:defRPr sz="37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596" indent="-192596" algn="l" defTabSz="770382" rtl="0" eaLnBrk="1" latinLnBrk="0" hangingPunct="1">
        <a:lnSpc>
          <a:spcPct val="90000"/>
        </a:lnSpc>
        <a:spcBef>
          <a:spcPts val="843"/>
        </a:spcBef>
        <a:buFont typeface="Arial" panose="020B0604020202020204" pitchFamily="34" charset="0"/>
        <a:buChar char="•"/>
        <a:defRPr sz="2359" kern="1200">
          <a:solidFill>
            <a:schemeClr val="tx1"/>
          </a:solidFill>
          <a:latin typeface="+mn-lt"/>
          <a:ea typeface="+mn-ea"/>
          <a:cs typeface="+mn-cs"/>
        </a:defRPr>
      </a:lvl1pPr>
      <a:lvl2pPr marL="577787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2022" kern="1200">
          <a:solidFill>
            <a:schemeClr val="tx1"/>
          </a:solidFill>
          <a:latin typeface="+mn-lt"/>
          <a:ea typeface="+mn-ea"/>
          <a:cs typeface="+mn-cs"/>
        </a:defRPr>
      </a:lvl2pPr>
      <a:lvl3pPr marL="962978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685" kern="1200">
          <a:solidFill>
            <a:schemeClr val="tx1"/>
          </a:solidFill>
          <a:latin typeface="+mn-lt"/>
          <a:ea typeface="+mn-ea"/>
          <a:cs typeface="+mn-cs"/>
        </a:defRPr>
      </a:lvl3pPr>
      <a:lvl4pPr marL="1348169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4pPr>
      <a:lvl5pPr marL="1733360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5pPr>
      <a:lvl6pPr marL="2118551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6pPr>
      <a:lvl7pPr marL="2503742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7pPr>
      <a:lvl8pPr marL="2888933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8pPr>
      <a:lvl9pPr marL="3274124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1pPr>
      <a:lvl2pPr marL="385191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770382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3pPr>
      <a:lvl4pPr marL="1155573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4pPr>
      <a:lvl5pPr marL="1540764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5pPr>
      <a:lvl6pPr marL="1925955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6pPr>
      <a:lvl7pPr marL="2311146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7pPr>
      <a:lvl8pPr marL="2696337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8pPr>
      <a:lvl9pPr marL="3081528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107A25-6691-54C0-A746-D9144F112AF1}"/>
              </a:ext>
            </a:extLst>
          </p:cNvPr>
          <p:cNvSpPr txBox="1"/>
          <p:nvPr/>
        </p:nvSpPr>
        <p:spPr>
          <a:xfrm>
            <a:off x="398877" y="387625"/>
            <a:ext cx="690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Fig. 1: Metastasis-derived CTCs are oligoclonal and endowed with different metastatic potential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C1A6F-3D61-A466-3BB7-6D6A3D5AFE3D}"/>
              </a:ext>
            </a:extLst>
          </p:cNvPr>
          <p:cNvSpPr txBox="1"/>
          <p:nvPr/>
        </p:nvSpPr>
        <p:spPr>
          <a:xfrm>
            <a:off x="398877" y="1699591"/>
            <a:ext cx="4401723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Experimental design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1D29F-A65A-13B8-E51F-B1B82A63A2FE}"/>
              </a:ext>
            </a:extLst>
          </p:cNvPr>
          <p:cNvSpPr txBox="1"/>
          <p:nvPr/>
        </p:nvSpPr>
        <p:spPr>
          <a:xfrm>
            <a:off x="5252486" y="1699591"/>
            <a:ext cx="197326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DEPArray</a:t>
            </a:r>
            <a:r>
              <a:rPr lang="en-US" dirty="0"/>
              <a:t> image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76AA5-1EF3-8C62-AE25-B23CD16031FC}"/>
              </a:ext>
            </a:extLst>
          </p:cNvPr>
          <p:cNvSpPr txBox="1"/>
          <p:nvPr/>
        </p:nvSpPr>
        <p:spPr>
          <a:xfrm>
            <a:off x="398876" y="5181600"/>
            <a:ext cx="6826872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4 annotated </a:t>
            </a:r>
            <a:r>
              <a:rPr lang="en-US" dirty="0" err="1"/>
              <a:t>fishplots</a:t>
            </a:r>
            <a:r>
              <a:rPr lang="en-US" dirty="0"/>
              <a:t>, one for each longitudinal dataset.</a:t>
            </a:r>
          </a:p>
          <a:p>
            <a:endParaRPr lang="en-US" dirty="0"/>
          </a:p>
          <a:p>
            <a:r>
              <a:rPr lang="en-US" dirty="0"/>
              <a:t>Each should contain: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number of longitudinal clones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 longitudinal clones in each sample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Prevalence of major longitudinal clones across organs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 organs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49268A-4BA9-CED7-BF7C-31EE04AC1F4E}"/>
              </a:ext>
            </a:extLst>
          </p:cNvPr>
          <p:cNvSpPr txBox="1"/>
          <p:nvPr/>
        </p:nvSpPr>
        <p:spPr>
          <a:xfrm>
            <a:off x="5252486" y="2807587"/>
            <a:ext cx="197326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 total cells and clones across PT, lungs and CTCs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219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D8B1F-5AF9-E441-F1EF-389396BAD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7A0CCD-7323-641D-9A91-9418AB4EED36}"/>
              </a:ext>
            </a:extLst>
          </p:cNvPr>
          <p:cNvSpPr txBox="1"/>
          <p:nvPr/>
        </p:nvSpPr>
        <p:spPr>
          <a:xfrm>
            <a:off x="398877" y="387625"/>
            <a:ext cx="690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Fig. 1 matched </a:t>
            </a:r>
            <a:r>
              <a:rPr lang="en-GB" b="1" dirty="0" err="1"/>
              <a:t>supplementaries</a:t>
            </a:r>
            <a:r>
              <a:rPr lang="en-GB" b="1" dirty="0"/>
              <a:t> (to be defined)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D2E092-B6B5-7E49-1689-C07276DEC0FA}"/>
              </a:ext>
            </a:extLst>
          </p:cNvPr>
          <p:cNvSpPr txBox="1"/>
          <p:nvPr/>
        </p:nvSpPr>
        <p:spPr>
          <a:xfrm>
            <a:off x="398878" y="1202634"/>
            <a:ext cx="673741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Other beautiful images supporting experimental design,</a:t>
            </a:r>
          </a:p>
          <a:p>
            <a:r>
              <a:rPr lang="en-US" dirty="0"/>
              <a:t>CTCs isolation, etc.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DCD332-FA60-FCF9-0041-CE570582A758}"/>
              </a:ext>
            </a:extLst>
          </p:cNvPr>
          <p:cNvSpPr txBox="1"/>
          <p:nvPr/>
        </p:nvSpPr>
        <p:spPr>
          <a:xfrm>
            <a:off x="398878" y="3034747"/>
            <a:ext cx="67374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Examples of </a:t>
            </a:r>
            <a:r>
              <a:rPr lang="en-US" dirty="0" err="1"/>
              <a:t>sc-lenti</a:t>
            </a:r>
            <a:r>
              <a:rPr lang="en-US" dirty="0"/>
              <a:t> pipeline for cell clonal assignment.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9D065-EF35-28E1-B232-ACE9A5784B4F}"/>
              </a:ext>
            </a:extLst>
          </p:cNvPr>
          <p:cNvSpPr txBox="1"/>
          <p:nvPr/>
        </p:nvSpPr>
        <p:spPr>
          <a:xfrm>
            <a:off x="398878" y="3777877"/>
            <a:ext cx="67374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Dotplot</a:t>
            </a:r>
            <a:r>
              <a:rPr lang="en-US" dirty="0"/>
              <a:t> with all clones across all samples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85BBF4-214E-05ED-B7CE-D1B90F03F05D}"/>
              </a:ext>
            </a:extLst>
          </p:cNvPr>
          <p:cNvSpPr txBox="1"/>
          <p:nvPr/>
        </p:nvSpPr>
        <p:spPr>
          <a:xfrm>
            <a:off x="398878" y="4521007"/>
            <a:ext cx="673741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Cumulative clone percentage (mean +95% confidence intervals for each organ)</a:t>
            </a:r>
          </a:p>
        </p:txBody>
      </p:sp>
    </p:spTree>
    <p:extLst>
      <p:ext uri="{BB962C8B-B14F-4D97-AF65-F5344CB8AC3E}">
        <p14:creationId xmlns:p14="http://schemas.microsoft.com/office/powerpoint/2010/main" val="3370899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E4753-F68D-4866-F7B2-E09A066E1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CD7FC-32A2-2864-829E-26BA3F9A5740}"/>
              </a:ext>
            </a:extLst>
          </p:cNvPr>
          <p:cNvSpPr txBox="1"/>
          <p:nvPr/>
        </p:nvSpPr>
        <p:spPr>
          <a:xfrm>
            <a:off x="398877" y="387625"/>
            <a:ext cx="690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Fig. 2: </a:t>
            </a:r>
            <a:r>
              <a:rPr lang="en-GB" b="1" dirty="0" err="1"/>
              <a:t>mCTCs</a:t>
            </a:r>
            <a:r>
              <a:rPr lang="en-GB" b="1" dirty="0"/>
              <a:t> hyperactivate oxidative phosphorylation and glycolytic pathways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028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FE5E2-5F06-C571-A664-38D100573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794A11-9475-A3C0-ABBE-14109BD84ABE}"/>
              </a:ext>
            </a:extLst>
          </p:cNvPr>
          <p:cNvSpPr txBox="1"/>
          <p:nvPr/>
        </p:nvSpPr>
        <p:spPr>
          <a:xfrm>
            <a:off x="398877" y="387625"/>
            <a:ext cx="690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Fig. 3: </a:t>
            </a:r>
            <a:r>
              <a:rPr lang="en-GB" b="1" dirty="0" err="1"/>
              <a:t>mCTCs</a:t>
            </a:r>
            <a:r>
              <a:rPr lang="en-GB" b="1" dirty="0"/>
              <a:t> reprogram their metabolism to mount a strong antioxidant response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315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A87A0-00EF-0FB4-6E55-D3DA6F23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837BE8-391E-A2BE-A9B1-1C052E1336F8}"/>
              </a:ext>
            </a:extLst>
          </p:cNvPr>
          <p:cNvSpPr txBox="1"/>
          <p:nvPr/>
        </p:nvSpPr>
        <p:spPr>
          <a:xfrm>
            <a:off x="398877" y="387625"/>
            <a:ext cx="690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Fig. 4: Suppression of mitochondrial respiration enhances </a:t>
            </a:r>
            <a:r>
              <a:rPr lang="en-GB" b="1" dirty="0" err="1"/>
              <a:t>mCTCs</a:t>
            </a:r>
            <a:r>
              <a:rPr lang="en-GB" b="1" dirty="0"/>
              <a:t> survival into the circulation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649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0A697-C2E3-0B79-D114-D32E3DFF0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0E72AA-AB04-C3A2-D7BA-0DE6DBBB9CEC}"/>
              </a:ext>
            </a:extLst>
          </p:cNvPr>
          <p:cNvSpPr txBox="1"/>
          <p:nvPr/>
        </p:nvSpPr>
        <p:spPr>
          <a:xfrm>
            <a:off x="398877" y="387625"/>
            <a:ext cx="690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Fig. 5: Arsenic Trioxide treatment dampens </a:t>
            </a:r>
            <a:r>
              <a:rPr lang="en-GB" b="1" dirty="0" err="1"/>
              <a:t>mCTCs</a:t>
            </a:r>
            <a:r>
              <a:rPr lang="en-GB" b="1" dirty="0"/>
              <a:t> survival and reduces metastasis 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581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6141</TotalTime>
  <Words>168</Words>
  <Application>Microsoft Macintosh PowerPoint</Application>
  <PresentationFormat>Custom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Cossa</dc:creator>
  <cp:lastModifiedBy>Andrea Cossa</cp:lastModifiedBy>
  <cp:revision>207</cp:revision>
  <cp:lastPrinted>2026-01-30T18:54:18Z</cp:lastPrinted>
  <dcterms:created xsi:type="dcterms:W3CDTF">2026-01-26T09:32:34Z</dcterms:created>
  <dcterms:modified xsi:type="dcterms:W3CDTF">2026-02-03T17:02:03Z</dcterms:modified>
</cp:coreProperties>
</file>